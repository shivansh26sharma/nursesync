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8" r:id="rId5"/>
    <p:sldId id="266" r:id="rId4"/>
    <p:sldId id="268" r:id="rId13"/>
    <p:sldId id="273" r:id="rId18"/>
    <p:sldId id="269" r:id="rId14"/>
    <p:sldId id="267" r:id="rId3"/>
    <p:sldId id="270" r:id="rId15"/>
    <p:sldId id="271" r:id="rId16"/>
    <p:sldId id="272" r:id="rId17"/>
  </p:sldIdLst>
  <p:sldSz cx="14630400" cy="8229600"/>
  <p:notesSz cx="8229600" cy="14630400"/>
  <p:embeddedFontLst>
    <p:embeddedFont>
      <p:font typeface="Open Sans Light" pitchFamily="2" charset="0"/>
      <p:regular r:id="rId7"/>
      <p:italic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F70"/>
    <a:srgbClr val="AEB2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05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9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  <Relationship Id="rId13" Type="http://schemas.openxmlformats.org/officeDocument/2006/relationships/slide" Target="slides/slide5.xml"/>
  <Relationship Id="rId14" Type="http://schemas.openxmlformats.org/officeDocument/2006/relationships/slide" Target="slides/slide6.xml"/>
  <Relationship Id="rId15" Type="http://schemas.openxmlformats.org/officeDocument/2006/relationships/slide" Target="slides/slide7.xml"/>
  <Relationship Id="rId16" Type="http://schemas.openxmlformats.org/officeDocument/2006/relationships/slide" Target="slides/slide8.xml"/>
  <Relationship Id="rId17" Type="http://schemas.openxmlformats.org/officeDocument/2006/relationships/slide" Target="slides/slide9.xml"/>
  <Relationship Id="rId18" Type="http://schemas.openxmlformats.org/officeDocument/2006/relationships/slide" Target="slides/slide10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2179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16CDB-18A8-CB03-73ED-527317040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64F205-9C0F-2FE1-7549-18BF5F1E01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E95EC9-F0CD-1F02-24FE-6B0862CF82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4A2AD-7601-4A84-E153-FB7179490B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6650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11780-1A05-43F9-0649-77A902CF0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7EA13D-8746-6690-85A8-C76A6DAE5C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D07919-FECB-CF85-CF59-5F0681545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0041A-5F0C-8275-4889-9010979241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337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
<Relationships xmlns="http://schemas.openxmlformats.org/package/2006/relationships"><Relationship Id="rId3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
<Relationships xmlns="http://schemas.openxmlformats.org/package/2006/relationships"><Relationship Id="rId3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46428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b="1" u="sng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 xml:space="preserve">NurseSync AI — Prototype Progress Report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053721"/>
            <a:ext cx="7556421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 xml:space="preserve">Speak. Sync. Care.   ·   Work completed 3 Aug – 14 Sep 2026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89" y="4489131"/>
            <a:ext cx="7556421" cy="1835469"/>
          </a:xfrm>
          <a:prstGeom prst="roundRect">
            <a:avLst>
              <a:gd name="adj" fmla="val 756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028224" y="46524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Team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28222" y="5115637"/>
            <a:ext cx="7087553" cy="1610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Shivansh Sharma            				1024030732</a:t>
            </a:r>
          </a:p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Ishaan Bhalla 	    				1024030950</a:t>
            </a:r>
          </a:p>
          <a:p>
            <a:pPr>
              <a:lnSpc>
                <a:spcPts val="2550"/>
              </a:lnSpc>
            </a:pPr>
            <a:r>
              <a:rPr lang="en-US" sz="175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Pushp Batheja				     	1024030941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AD0DBE-3FEB-A474-A896-3F49C84D0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A34C04E-BA8C-A30B-E7CF-FD8960588291}"/>
              </a:ext>
            </a:extLst>
          </p:cNvPr>
          <p:cNvSpPr/>
          <p:nvPr/>
        </p:nvSpPr>
        <p:spPr>
          <a:xfrm>
            <a:off x="5174178" y="104775"/>
            <a:ext cx="6379488" cy="797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250"/>
              </a:lnSpc>
              <a:buNone/>
            </a:pPr>
            <a:r>
              <a:rPr lang="en-US" sz="5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 xml:space="preserve">Key Decisions</a:t>
            </a:r>
            <a:endParaRPr lang="en-US" sz="5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01108B-A76C-B51D-9D49-E4A10FF19F1F}"/>
              </a:ext>
            </a:extLst>
          </p:cNvPr>
          <p:cNvSpPr/>
          <p:nvPr/>
        </p:nvSpPr>
        <p:spPr>
          <a:xfrm>
            <a:off x="12544425" y="7610475"/>
            <a:ext cx="2085975" cy="514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highlight>
                <a:srgbClr val="C0C0C0"/>
              </a:highlight>
            </a:endParaRPr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1F12D9FD-D34B-C67F-15B3-75FC1E88BC21}"/>
              </a:ext>
            </a:extLst>
          </p:cNvPr>
          <p:cNvSpPr/>
          <p:nvPr/>
        </p:nvSpPr>
        <p:spPr>
          <a:xfrm>
            <a:off x="5174178" y="1215352"/>
            <a:ext cx="6521410" cy="79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320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 xml:space="preserve">Why we run the model locally</a:t>
            </a:r>
            <a:endParaRPr lang="en-US" sz="32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14E23162-873A-85D7-C5BB-28109D2B85C9}"/>
              </a:ext>
            </a:extLst>
          </p:cNvPr>
          <p:cNvSpPr/>
          <p:nvPr/>
        </p:nvSpPr>
        <p:spPr>
          <a:xfrm>
            <a:off x="5174178" y="2012595"/>
            <a:ext cx="9202222" cy="4047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333F70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 xml:space="preserve">A nurse handoff contains protected patient health information. Sending that audio to a third-party cloud API would create a privacy exposure no hospital could reasonably accept.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333F70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 xml:space="preserve">We therefore run faster-whisper locally on CPU, so the audio never leaves the institution’s own infrastructure.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333F70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 xml:space="preserve">The same decision removes the API key, the per-request cost and the dependency on connectivity — once cached, transcription works offline.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333F70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 xml:space="preserve">The model is loaded once and held in memory rather than per request, turning a 10–20 second cost on every call into a one-time startup cost.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258FAD-99A1-E14E-7FD3-B8ACA90CAABF}"/>
              </a:ext>
            </a:extLst>
          </p:cNvPr>
          <p:cNvSpPr txBox="1"/>
          <p:nvPr/>
        </p:nvSpPr>
        <p:spPr>
          <a:xfrm>
            <a:off x="5108575" y="6193565"/>
            <a:ext cx="9267825" cy="1293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320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 xml:space="preserve">“Privacy was not a constraint we worked around — it decided the architecture.”</a:t>
            </a:r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C4778E-79FC-825B-B1EB-35C9444BE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626689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374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F7D2C-7165-A293-BEF5-A43AF4933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8B9C43D-A422-B66F-3C3B-F8C2A5070D58}"/>
              </a:ext>
            </a:extLst>
          </p:cNvPr>
          <p:cNvSpPr/>
          <p:nvPr/>
        </p:nvSpPr>
        <p:spPr>
          <a:xfrm>
            <a:off x="793790" y="886182"/>
            <a:ext cx="6379488" cy="797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250"/>
              </a:lnSpc>
              <a:buNone/>
            </a:pPr>
            <a:r>
              <a:rPr lang="en-US" sz="5000" b="1" u="sng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 xml:space="preserve">Phase 1 &amp; 2</a:t>
            </a:r>
            <a:endParaRPr lang="en-US" sz="5000" u="sng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688A6457-F480-6F17-5664-B514382D0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42768"/>
            <a:ext cx="602933" cy="753666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2B802EC0-C7F4-7E8F-9614-7AD7ED8262C9}"/>
              </a:ext>
            </a:extLst>
          </p:cNvPr>
          <p:cNvSpPr/>
          <p:nvPr/>
        </p:nvSpPr>
        <p:spPr>
          <a:xfrm>
            <a:off x="1683782" y="2142768"/>
            <a:ext cx="3739118" cy="119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 xml:space="preserve">Inception :</a:t>
            </a:r>
            <a:endParaRPr lang="en-US" sz="25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8C73134-7544-8B59-8226-5F1E95C5EFC4}"/>
              </a:ext>
            </a:extLst>
          </p:cNvPr>
          <p:cNvSpPr/>
          <p:nvPr/>
        </p:nvSpPr>
        <p:spPr>
          <a:xfrm>
            <a:off x="4324031" y="2159040"/>
            <a:ext cx="9390620" cy="797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 xml:space="preserve">Team formed, the clinical problem researched, and the NurseSync AI concept and scope finalised.  (3 – 9 Aug)</a:t>
            </a:r>
            <a:endParaRPr lang="en-US" sz="2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492A11-EAF6-1892-EFE8-E528CEF4807E}"/>
              </a:ext>
            </a:extLst>
          </p:cNvPr>
          <p:cNvSpPr/>
          <p:nvPr/>
        </p:nvSpPr>
        <p:spPr>
          <a:xfrm>
            <a:off x="12544425" y="7610475"/>
            <a:ext cx="2085975" cy="514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highlight>
                <a:srgbClr val="C0C0C0"/>
              </a:highlight>
            </a:endParaRPr>
          </a:p>
        </p:txBody>
      </p:sp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806CD355-B8F2-89DD-2596-C6EC2BE147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89" y="3605748"/>
            <a:ext cx="602933" cy="753666"/>
          </a:xfrm>
          <a:prstGeom prst="rect">
            <a:avLst/>
          </a:prstGeom>
        </p:spPr>
      </p:pic>
      <p:sp>
        <p:nvSpPr>
          <p:cNvPr id="17" name="Text 3">
            <a:extLst>
              <a:ext uri="{FF2B5EF4-FFF2-40B4-BE49-F238E27FC236}">
                <a16:creationId xmlns:a16="http://schemas.microsoft.com/office/drawing/2014/main" id="{A76C668B-CAF4-C617-E1DE-130A53314614}"/>
              </a:ext>
            </a:extLst>
          </p:cNvPr>
          <p:cNvSpPr/>
          <p:nvPr/>
        </p:nvSpPr>
        <p:spPr>
          <a:xfrm>
            <a:off x="1683782" y="3797856"/>
            <a:ext cx="2155388" cy="79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 xml:space="preserve">Setup :</a:t>
            </a:r>
            <a:endParaRPr lang="en-US" sz="25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C8C9F3D1-495D-AD7D-D60A-61D48D7F187F}"/>
              </a:ext>
            </a:extLst>
          </p:cNvPr>
          <p:cNvSpPr/>
          <p:nvPr/>
        </p:nvSpPr>
        <p:spPr>
          <a:xfrm>
            <a:off x="4324031" y="3620095"/>
            <a:ext cx="9512579" cy="79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 xml:space="preserve">GitHub repository restructured to the course-required layout; Git workflow and commit conventions agreed.  (10 – 16 Aug)</a:t>
            </a:r>
            <a:endParaRPr lang="en-US" sz="2000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0ED3D4CD-B495-6C4E-D40D-B80F44E73E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88" y="5065157"/>
            <a:ext cx="602933" cy="753666"/>
          </a:xfrm>
          <a:prstGeom prst="rect">
            <a:avLst/>
          </a:prstGeom>
        </p:spPr>
      </p:pic>
      <p:sp>
        <p:nvSpPr>
          <p:cNvPr id="20" name="Text 5">
            <a:extLst>
              <a:ext uri="{FF2B5EF4-FFF2-40B4-BE49-F238E27FC236}">
                <a16:creationId xmlns:a16="http://schemas.microsoft.com/office/drawing/2014/main" id="{84C01FE8-1EC7-3D2A-F8B9-DDB7944CD2A6}"/>
              </a:ext>
            </a:extLst>
          </p:cNvPr>
          <p:cNvSpPr/>
          <p:nvPr/>
        </p:nvSpPr>
        <p:spPr>
          <a:xfrm>
            <a:off x="1683662" y="5209858"/>
            <a:ext cx="2532618" cy="79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 xml:space="preserve">Proposal :</a:t>
            </a:r>
            <a:endParaRPr lang="en-US" sz="25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A37EC879-6DB1-58EA-C7A1-C2846F2A6DFC}"/>
              </a:ext>
            </a:extLst>
          </p:cNvPr>
          <p:cNvSpPr/>
          <p:nvPr/>
        </p:nvSpPr>
        <p:spPr>
          <a:xfrm>
            <a:off x="4324031" y="5043368"/>
            <a:ext cx="9696769" cy="79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 xml:space="preserve">Proposal content drafted in LaTeX, then formatted and finalised into the submitted document.  (17 – 23 Aug)</a:t>
            </a:r>
            <a:endParaRPr lang="en-US" sz="2000" dirty="0"/>
          </a:p>
        </p:txBody>
      </p:sp>
      <p:pic>
        <p:nvPicPr>
          <p:cNvPr id="22" name="Image 3" descr="preencoded.png">
            <a:extLst>
              <a:ext uri="{FF2B5EF4-FFF2-40B4-BE49-F238E27FC236}">
                <a16:creationId xmlns:a16="http://schemas.microsoft.com/office/drawing/2014/main" id="{6DD37C18-6E00-FC60-D346-A765E812C4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88" y="6524566"/>
            <a:ext cx="602933" cy="753666"/>
          </a:xfrm>
          <a:prstGeom prst="rect">
            <a:avLst/>
          </a:prstGeom>
        </p:spPr>
      </p:pic>
      <p:sp>
        <p:nvSpPr>
          <p:cNvPr id="23" name="Text 7">
            <a:extLst>
              <a:ext uri="{FF2B5EF4-FFF2-40B4-BE49-F238E27FC236}">
                <a16:creationId xmlns:a16="http://schemas.microsoft.com/office/drawing/2014/main" id="{35D97BE9-7D76-673E-C05F-8A94EBF3700A}"/>
              </a:ext>
            </a:extLst>
          </p:cNvPr>
          <p:cNvSpPr/>
          <p:nvPr/>
        </p:nvSpPr>
        <p:spPr>
          <a:xfrm>
            <a:off x="1683662" y="6466325"/>
            <a:ext cx="2155508" cy="79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 xml:space="preserve">Modelling :</a:t>
            </a:r>
            <a:endParaRPr lang="en-US" sz="25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8CF6E79-D5E0-EDEC-1D47-A383D7645673}"/>
              </a:ext>
            </a:extLst>
          </p:cNvPr>
          <p:cNvSpPr/>
          <p:nvPr/>
        </p:nvSpPr>
        <p:spPr>
          <a:xfrm>
            <a:off x="4324032" y="6466325"/>
            <a:ext cx="9390620" cy="877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 xml:space="preserve">UML use case diagram, Level 0 and Level 1 data flow diagrams, and the activity diagram completed.  (21 – 31 Aug)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04935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97173"/>
            <a:ext cx="5316260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 xml:space="preserve">What We Built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6280190" y="2100858"/>
            <a:ext cx="7556421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 xml:space="preserve">A working speech-to-text handoff pipeline. A nurse speaks at the bedside, the audio is transcribed on our own server, and the transcript comes back for review before it is saved.</a:t>
            </a:r>
            <a:endParaRPr lang="en-US" sz="16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0190" y="3173135"/>
            <a:ext cx="531614" cy="5316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11114" y="3173135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 xml:space="preserve">Voice Capture</a:t>
            </a:r>
            <a:endParaRPr lang="en-US" sz="2050" dirty="0"/>
          </a:p>
        </p:txBody>
      </p:sp>
      <p:sp>
        <p:nvSpPr>
          <p:cNvPr id="7" name="Text 3"/>
          <p:cNvSpPr/>
          <p:nvPr/>
        </p:nvSpPr>
        <p:spPr>
          <a:xfrm>
            <a:off x="7011114" y="3601045"/>
            <a:ext cx="6825496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 xml:space="preserve">Browser MediaRecorder captures the spoken handoff hands-free.</a:t>
            </a:r>
            <a:endParaRPr lang="en-US" sz="16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0190" y="4217670"/>
            <a:ext cx="531614" cy="53161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011114" y="4217670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 xml:space="preserve">On-Premise Transcription</a:t>
            </a:r>
            <a:endParaRPr lang="en-US" sz="2050" dirty="0"/>
          </a:p>
        </p:txBody>
      </p:sp>
      <p:sp>
        <p:nvSpPr>
          <p:cNvPr id="10" name="Text 5"/>
          <p:cNvSpPr/>
          <p:nvPr/>
        </p:nvSpPr>
        <p:spPr>
          <a:xfrm>
            <a:off x="7011114" y="4645581"/>
            <a:ext cx="6825496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 xml:space="preserve">Runs locally on CPU — audio never leaves the institution.</a:t>
            </a:r>
            <a:endParaRPr lang="en-US" sz="16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0190" y="5262205"/>
            <a:ext cx="531614" cy="53161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011114" y="5262205"/>
            <a:ext cx="3874889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 xml:space="preserve">Multilingual Input</a:t>
            </a:r>
            <a:endParaRPr lang="en-US" sz="2050" dirty="0"/>
          </a:p>
        </p:txBody>
      </p:sp>
      <p:sp>
        <p:nvSpPr>
          <p:cNvPr id="13" name="Text 7"/>
          <p:cNvSpPr/>
          <p:nvPr/>
        </p:nvSpPr>
        <p:spPr>
          <a:xfrm>
            <a:off x="7011114" y="5690116"/>
            <a:ext cx="6825496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 xml:space="preserve">English, Hindi, Punjabi, Tamil, Telugu and Bengali — auto-detected.</a:t>
            </a:r>
            <a:endParaRPr lang="en-US" sz="16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80190" y="6306741"/>
            <a:ext cx="531614" cy="53161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011114" y="6306741"/>
            <a:ext cx="360676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 xml:space="preserve">Nurse-in-the-Loop Review</a:t>
            </a:r>
            <a:endParaRPr lang="en-US" sz="2050" dirty="0"/>
          </a:p>
        </p:txBody>
      </p:sp>
      <p:sp>
        <p:nvSpPr>
          <p:cNvPr id="16" name="Text 9"/>
          <p:cNvSpPr/>
          <p:nvPr/>
        </p:nvSpPr>
        <p:spPr>
          <a:xfrm>
            <a:off x="7011114" y="6734651"/>
            <a:ext cx="6825496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 xml:space="preserve">Every transcript returns editable, so the nurse corrects before saving.</a:t>
            </a:r>
            <a:endParaRPr lang="en-US" sz="16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5768F1-F4E6-98D2-981C-D94B175D4AC9}"/>
              </a:ext>
            </a:extLst>
          </p:cNvPr>
          <p:cNvSpPr/>
          <p:nvPr/>
        </p:nvSpPr>
        <p:spPr>
          <a:xfrm>
            <a:off x="12544425" y="7600950"/>
            <a:ext cx="2085975" cy="514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highlight>
                <a:srgbClr val="C0C0C0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F7D2C-7165-A293-BEF5-A43AF4933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8B9C43D-A422-B66F-3C3B-F8C2A5070D58}"/>
              </a:ext>
            </a:extLst>
          </p:cNvPr>
          <p:cNvSpPr/>
          <p:nvPr/>
        </p:nvSpPr>
        <p:spPr>
          <a:xfrm>
            <a:off x="793790" y="886182"/>
            <a:ext cx="6379488" cy="797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250"/>
              </a:lnSpc>
              <a:buNone/>
            </a:pPr>
            <a:r>
              <a:rPr lang="en-US" sz="5000" b="1" u="sng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 xml:space="preserve">Phase 3 &amp; 4</a:t>
            </a:r>
            <a:endParaRPr lang="en-US" sz="5000" u="sng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688A6457-F480-6F17-5664-B514382D0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42768"/>
            <a:ext cx="602933" cy="753666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2B802EC0-C7F4-7E8F-9614-7AD7ED8262C9}"/>
              </a:ext>
            </a:extLst>
          </p:cNvPr>
          <p:cNvSpPr/>
          <p:nvPr/>
        </p:nvSpPr>
        <p:spPr>
          <a:xfrm>
            <a:off x="1683782" y="2142768"/>
            <a:ext cx="3739118" cy="119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 xml:space="preserve">Backend :</a:t>
            </a:r>
            <a:endParaRPr lang="en-US" sz="25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8C73134-7544-8B59-8226-5F1E95C5EFC4}"/>
              </a:ext>
            </a:extLst>
          </p:cNvPr>
          <p:cNvSpPr/>
          <p:nvPr/>
        </p:nvSpPr>
        <p:spPr>
          <a:xfrm>
            <a:off x="4324031" y="2159040"/>
            <a:ext cx="9390620" cy="797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 xml:space="preserve">FastAPI application set up and the faster-whisper model integrated for local, offline transcription.  (31 Aug – 6 Sep)</a:t>
            </a:r>
            <a:endParaRPr lang="en-US" sz="2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492A11-EAF6-1892-EFE8-E528CEF4807E}"/>
              </a:ext>
            </a:extLst>
          </p:cNvPr>
          <p:cNvSpPr/>
          <p:nvPr/>
        </p:nvSpPr>
        <p:spPr>
          <a:xfrm>
            <a:off x="12544425" y="7610475"/>
            <a:ext cx="2085975" cy="514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highlight>
                <a:srgbClr val="C0C0C0"/>
              </a:highlight>
            </a:endParaRPr>
          </a:p>
        </p:txBody>
      </p:sp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806CD355-B8F2-89DD-2596-C6EC2BE147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89" y="3605748"/>
            <a:ext cx="602933" cy="753666"/>
          </a:xfrm>
          <a:prstGeom prst="rect">
            <a:avLst/>
          </a:prstGeom>
        </p:spPr>
      </p:pic>
      <p:sp>
        <p:nvSpPr>
          <p:cNvPr id="17" name="Text 3">
            <a:extLst>
              <a:ext uri="{FF2B5EF4-FFF2-40B4-BE49-F238E27FC236}">
                <a16:creationId xmlns:a16="http://schemas.microsoft.com/office/drawing/2014/main" id="{A76C668B-CAF4-C617-E1DE-130A53314614}"/>
              </a:ext>
            </a:extLst>
          </p:cNvPr>
          <p:cNvSpPr/>
          <p:nvPr/>
        </p:nvSpPr>
        <p:spPr>
          <a:xfrm>
            <a:off x="1683782" y="3797856"/>
            <a:ext cx="2155388" cy="79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 xml:space="preserve">Endpoint :</a:t>
            </a:r>
            <a:endParaRPr lang="en-US" sz="25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C8C9F3D1-495D-AD7D-D60A-61D48D7F187F}"/>
              </a:ext>
            </a:extLst>
          </p:cNvPr>
          <p:cNvSpPr/>
          <p:nvPr/>
        </p:nvSpPr>
        <p:spPr>
          <a:xfrm>
            <a:off x="4324031" y="3620095"/>
            <a:ext cx="9512579" cy="79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 xml:space="preserve">POST /transcribe built — multipart audio upload, model invocation, and JSON carrying transcript, language and confidence.  (2 – 6 Sep)</a:t>
            </a:r>
            <a:endParaRPr lang="en-US" sz="2000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0ED3D4CD-B495-6C4E-D40D-B80F44E73E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88" y="5065157"/>
            <a:ext cx="602933" cy="753666"/>
          </a:xfrm>
          <a:prstGeom prst="rect">
            <a:avLst/>
          </a:prstGeom>
        </p:spPr>
      </p:pic>
      <p:sp>
        <p:nvSpPr>
          <p:cNvPr id="20" name="Text 5">
            <a:extLst>
              <a:ext uri="{FF2B5EF4-FFF2-40B4-BE49-F238E27FC236}">
                <a16:creationId xmlns:a16="http://schemas.microsoft.com/office/drawing/2014/main" id="{84C01FE8-1EC7-3D2A-F8B9-DDB7944CD2A6}"/>
              </a:ext>
            </a:extLst>
          </p:cNvPr>
          <p:cNvSpPr/>
          <p:nvPr/>
        </p:nvSpPr>
        <p:spPr>
          <a:xfrm>
            <a:off x="1683662" y="5209858"/>
            <a:ext cx="2532618" cy="79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 xml:space="preserve">Frontend :</a:t>
            </a:r>
            <a:endParaRPr lang="en-US" sz="25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A37EC879-6DB1-58EA-C7A1-C2846F2A6DFC}"/>
              </a:ext>
            </a:extLst>
          </p:cNvPr>
          <p:cNvSpPr/>
          <p:nvPr/>
        </p:nvSpPr>
        <p:spPr>
          <a:xfrm>
            <a:off x="4324031" y="5043368"/>
            <a:ext cx="9696769" cy="79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 xml:space="preserve">Demo page built with microphone capture, live Recording and Transcribing states, transcript display and history.  (31 Aug – 11 Sep)</a:t>
            </a:r>
            <a:endParaRPr lang="en-US" sz="2000" dirty="0"/>
          </a:p>
        </p:txBody>
      </p:sp>
      <p:pic>
        <p:nvPicPr>
          <p:cNvPr id="22" name="Image 3" descr="preencoded.png">
            <a:extLst>
              <a:ext uri="{FF2B5EF4-FFF2-40B4-BE49-F238E27FC236}">
                <a16:creationId xmlns:a16="http://schemas.microsoft.com/office/drawing/2014/main" id="{6DD37C18-6E00-FC60-D346-A765E812C4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88" y="6524566"/>
            <a:ext cx="602933" cy="753666"/>
          </a:xfrm>
          <a:prstGeom prst="rect">
            <a:avLst/>
          </a:prstGeom>
        </p:spPr>
      </p:pic>
      <p:sp>
        <p:nvSpPr>
          <p:cNvPr id="23" name="Text 7">
            <a:extLst>
              <a:ext uri="{FF2B5EF4-FFF2-40B4-BE49-F238E27FC236}">
                <a16:creationId xmlns:a16="http://schemas.microsoft.com/office/drawing/2014/main" id="{35D97BE9-7D76-673E-C05F-8A94EBF3700A}"/>
              </a:ext>
            </a:extLst>
          </p:cNvPr>
          <p:cNvSpPr/>
          <p:nvPr/>
        </p:nvSpPr>
        <p:spPr>
          <a:xfrm>
            <a:off x="1683662" y="6466325"/>
            <a:ext cx="2155508" cy="79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 xml:space="preserve">Testing :</a:t>
            </a:r>
            <a:endParaRPr lang="en-US" sz="25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8CF6E79-D5E0-EDEC-1D47-A383D7645673}"/>
              </a:ext>
            </a:extLst>
          </p:cNvPr>
          <p:cNvSpPr/>
          <p:nvPr/>
        </p:nvSpPr>
        <p:spPr>
          <a:xfrm>
            <a:off x="4324032" y="6466325"/>
            <a:ext cx="9390620" cy="877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 xml:space="preserve">Full pipeline verified end to end across multiple languages, returning successful responses.  (9 – 13 Sep)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04935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F7D2C-7165-A293-BEF5-A43AF4933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8B9C43D-A422-B66F-3C3B-F8C2A5070D58}"/>
              </a:ext>
            </a:extLst>
          </p:cNvPr>
          <p:cNvSpPr/>
          <p:nvPr/>
        </p:nvSpPr>
        <p:spPr>
          <a:xfrm>
            <a:off x="793790" y="886182"/>
            <a:ext cx="6379488" cy="797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250"/>
              </a:lnSpc>
              <a:buNone/>
            </a:pPr>
            <a:r>
              <a:rPr lang="en-US" sz="5000" b="1" u="sng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 xml:space="preserve">Deliverables</a:t>
            </a:r>
            <a:endParaRPr lang="en-US" sz="5000" u="sng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688A6457-F480-6F17-5664-B514382D0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42768"/>
            <a:ext cx="602933" cy="753666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2B802EC0-C7F4-7E8F-9614-7AD7ED8262C9}"/>
              </a:ext>
            </a:extLst>
          </p:cNvPr>
          <p:cNvSpPr/>
          <p:nvPr/>
        </p:nvSpPr>
        <p:spPr>
          <a:xfrm>
            <a:off x="1683782" y="2142768"/>
            <a:ext cx="3739118" cy="119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 xml:space="preserve">Proposal :</a:t>
            </a:r>
            <a:endParaRPr lang="en-US" sz="25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8C73134-7544-8B59-8226-5F1E95C5EFC4}"/>
              </a:ext>
            </a:extLst>
          </p:cNvPr>
          <p:cNvSpPr/>
          <p:nvPr/>
        </p:nvSpPr>
        <p:spPr>
          <a:xfrm>
            <a:off x="4324031" y="2159040"/>
            <a:ext cx="9390620" cy="797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 xml:space="preserve">Problem formulation, objectives, methodology and expected outcomes, authored in LaTeX and submitted.</a:t>
            </a:r>
            <a:endParaRPr lang="en-US" sz="2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492A11-EAF6-1892-EFE8-E528CEF4807E}"/>
              </a:ext>
            </a:extLst>
          </p:cNvPr>
          <p:cNvSpPr/>
          <p:nvPr/>
        </p:nvSpPr>
        <p:spPr>
          <a:xfrm>
            <a:off x="12544425" y="7610475"/>
            <a:ext cx="2085975" cy="514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highlight>
                <a:srgbClr val="C0C0C0"/>
              </a:highlight>
            </a:endParaRPr>
          </a:p>
        </p:txBody>
      </p:sp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806CD355-B8F2-89DD-2596-C6EC2BE147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89" y="3605748"/>
            <a:ext cx="602933" cy="753666"/>
          </a:xfrm>
          <a:prstGeom prst="rect">
            <a:avLst/>
          </a:prstGeom>
        </p:spPr>
      </p:pic>
      <p:sp>
        <p:nvSpPr>
          <p:cNvPr id="17" name="Text 3">
            <a:extLst>
              <a:ext uri="{FF2B5EF4-FFF2-40B4-BE49-F238E27FC236}">
                <a16:creationId xmlns:a16="http://schemas.microsoft.com/office/drawing/2014/main" id="{A76C668B-CAF4-C617-E1DE-130A53314614}"/>
              </a:ext>
            </a:extLst>
          </p:cNvPr>
          <p:cNvSpPr/>
          <p:nvPr/>
        </p:nvSpPr>
        <p:spPr>
          <a:xfrm>
            <a:off x="1683782" y="3797856"/>
            <a:ext cx="2155388" cy="79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 xml:space="preserve">DFDs :</a:t>
            </a:r>
            <a:endParaRPr lang="en-US" sz="25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C8C9F3D1-495D-AD7D-D60A-61D48D7F187F}"/>
              </a:ext>
            </a:extLst>
          </p:cNvPr>
          <p:cNvSpPr/>
          <p:nvPr/>
        </p:nvSpPr>
        <p:spPr>
          <a:xfrm>
            <a:off x="4324031" y="3620095"/>
            <a:ext cx="9512579" cy="79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 xml:space="preserve">Level 0 context diagram and Level 1 process decomposition, balanced so inputs and outputs match across levels.</a:t>
            </a:r>
            <a:endParaRPr lang="en-US" sz="2000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0ED3D4CD-B495-6C4E-D40D-B80F44E73E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88" y="5065157"/>
            <a:ext cx="602933" cy="753666"/>
          </a:xfrm>
          <a:prstGeom prst="rect">
            <a:avLst/>
          </a:prstGeom>
        </p:spPr>
      </p:pic>
      <p:sp>
        <p:nvSpPr>
          <p:cNvPr id="20" name="Text 5">
            <a:extLst>
              <a:ext uri="{FF2B5EF4-FFF2-40B4-BE49-F238E27FC236}">
                <a16:creationId xmlns:a16="http://schemas.microsoft.com/office/drawing/2014/main" id="{84C01FE8-1EC7-3D2A-F8B9-DDB7944CD2A6}"/>
              </a:ext>
            </a:extLst>
          </p:cNvPr>
          <p:cNvSpPr/>
          <p:nvPr/>
        </p:nvSpPr>
        <p:spPr>
          <a:xfrm>
            <a:off x="1683662" y="5209858"/>
            <a:ext cx="2532618" cy="79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 xml:space="preserve">ER Diagram :</a:t>
            </a:r>
            <a:endParaRPr lang="en-US" sz="25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A37EC879-6DB1-58EA-C7A1-C2846F2A6DFC}"/>
              </a:ext>
            </a:extLst>
          </p:cNvPr>
          <p:cNvSpPr/>
          <p:nvPr/>
        </p:nvSpPr>
        <p:spPr>
          <a:xfrm>
            <a:off x="4324031" y="5043368"/>
            <a:ext cx="9696769" cy="79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 xml:space="preserve">Eight entities with key, multi-valued and derived attributes, relationship attributes and cardinality constraints.</a:t>
            </a:r>
            <a:endParaRPr lang="en-US" sz="2000" dirty="0"/>
          </a:p>
        </p:txBody>
      </p:sp>
      <p:pic>
        <p:nvPicPr>
          <p:cNvPr id="22" name="Image 3" descr="preencoded.png">
            <a:extLst>
              <a:ext uri="{FF2B5EF4-FFF2-40B4-BE49-F238E27FC236}">
                <a16:creationId xmlns:a16="http://schemas.microsoft.com/office/drawing/2014/main" id="{6DD37C18-6E00-FC60-D346-A765E812C4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88" y="6524566"/>
            <a:ext cx="602933" cy="753666"/>
          </a:xfrm>
          <a:prstGeom prst="rect">
            <a:avLst/>
          </a:prstGeom>
        </p:spPr>
      </p:pic>
      <p:sp>
        <p:nvSpPr>
          <p:cNvPr id="23" name="Text 7">
            <a:extLst>
              <a:ext uri="{FF2B5EF4-FFF2-40B4-BE49-F238E27FC236}">
                <a16:creationId xmlns:a16="http://schemas.microsoft.com/office/drawing/2014/main" id="{35D97BE9-7D76-673E-C05F-8A94EBF3700A}"/>
              </a:ext>
            </a:extLst>
          </p:cNvPr>
          <p:cNvSpPr/>
          <p:nvPr/>
        </p:nvSpPr>
        <p:spPr>
          <a:xfrm>
            <a:off x="1683662" y="6466325"/>
            <a:ext cx="2155508" cy="79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 xml:space="preserve">UML :</a:t>
            </a:r>
            <a:endParaRPr lang="en-US" sz="25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8CF6E79-D5E0-EDEC-1D47-A383D7645673}"/>
              </a:ext>
            </a:extLst>
          </p:cNvPr>
          <p:cNvSpPr/>
          <p:nvPr/>
        </p:nvSpPr>
        <p:spPr>
          <a:xfrm>
            <a:off x="4324032" y="6466325"/>
            <a:ext cx="9390620" cy="877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 xml:space="preserve">Use case diagram with include dependencies, and an activity diagram with swimlanes, fork/join and decision nodes.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04935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F7D2C-7165-A293-BEF5-A43AF4933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8B9C43D-A422-B66F-3C3B-F8C2A5070D58}"/>
              </a:ext>
            </a:extLst>
          </p:cNvPr>
          <p:cNvSpPr/>
          <p:nvPr/>
        </p:nvSpPr>
        <p:spPr>
          <a:xfrm>
            <a:off x="793790" y="886182"/>
            <a:ext cx="6379488" cy="797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250"/>
              </a:lnSpc>
              <a:buNone/>
            </a:pPr>
            <a:r>
              <a:rPr lang="en-US" sz="5000" b="1" u="sng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 xml:space="preserve">Status</a:t>
            </a:r>
            <a:endParaRPr lang="en-US" sz="5000" u="sng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688A6457-F480-6F17-5664-B514382D0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42768"/>
            <a:ext cx="602933" cy="753666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2B802EC0-C7F4-7E8F-9614-7AD7ED8262C9}"/>
              </a:ext>
            </a:extLst>
          </p:cNvPr>
          <p:cNvSpPr/>
          <p:nvPr/>
        </p:nvSpPr>
        <p:spPr>
          <a:xfrm>
            <a:off x="1683782" y="2142768"/>
            <a:ext cx="3739118" cy="119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 xml:space="preserve">Working :</a:t>
            </a:r>
            <a:endParaRPr lang="en-US" sz="25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8C73134-7544-8B59-8226-5F1E95C5EFC4}"/>
              </a:ext>
            </a:extLst>
          </p:cNvPr>
          <p:cNvSpPr/>
          <p:nvPr/>
        </p:nvSpPr>
        <p:spPr>
          <a:xfrm>
            <a:off x="4324031" y="2159040"/>
            <a:ext cx="9390620" cy="797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 xml:space="preserve">Record, transcribe and display verified end to end, with successful responses across multiple languages.</a:t>
            </a:r>
            <a:endParaRPr lang="en-US" sz="2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492A11-EAF6-1892-EFE8-E528CEF4807E}"/>
              </a:ext>
            </a:extLst>
          </p:cNvPr>
          <p:cNvSpPr/>
          <p:nvPr/>
        </p:nvSpPr>
        <p:spPr>
          <a:xfrm>
            <a:off x="12544425" y="7610475"/>
            <a:ext cx="2085975" cy="514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highlight>
                <a:srgbClr val="C0C0C0"/>
              </a:highlight>
            </a:endParaRPr>
          </a:p>
        </p:txBody>
      </p:sp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806CD355-B8F2-89DD-2596-C6EC2BE147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89" y="3605748"/>
            <a:ext cx="602933" cy="753666"/>
          </a:xfrm>
          <a:prstGeom prst="rect">
            <a:avLst/>
          </a:prstGeom>
        </p:spPr>
      </p:pic>
      <p:sp>
        <p:nvSpPr>
          <p:cNvPr id="17" name="Text 3">
            <a:extLst>
              <a:ext uri="{FF2B5EF4-FFF2-40B4-BE49-F238E27FC236}">
                <a16:creationId xmlns:a16="http://schemas.microsoft.com/office/drawing/2014/main" id="{A76C668B-CAF4-C617-E1DE-130A53314614}"/>
              </a:ext>
            </a:extLst>
          </p:cNvPr>
          <p:cNvSpPr/>
          <p:nvPr/>
        </p:nvSpPr>
        <p:spPr>
          <a:xfrm>
            <a:off x="1683782" y="3797856"/>
            <a:ext cx="2155388" cy="79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 xml:space="preserve">Deployed :</a:t>
            </a:r>
            <a:endParaRPr lang="en-US" sz="25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C8C9F3D1-495D-AD7D-D60A-61D48D7F187F}"/>
              </a:ext>
            </a:extLst>
          </p:cNvPr>
          <p:cNvSpPr/>
          <p:nvPr/>
        </p:nvSpPr>
        <p:spPr>
          <a:xfrm>
            <a:off x="4324031" y="3620095"/>
            <a:ext cx="9512579" cy="79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 xml:space="preserve">Documentation site and demo published to GitHub Pages via GitHub Actions; local HTTPS configured with mkcert.</a:t>
            </a:r>
            <a:endParaRPr lang="en-US" sz="2000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0ED3D4CD-B495-6C4E-D40D-B80F44E73E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88" y="5065157"/>
            <a:ext cx="602933" cy="753666"/>
          </a:xfrm>
          <a:prstGeom prst="rect">
            <a:avLst/>
          </a:prstGeom>
        </p:spPr>
      </p:pic>
      <p:sp>
        <p:nvSpPr>
          <p:cNvPr id="20" name="Text 5">
            <a:extLst>
              <a:ext uri="{FF2B5EF4-FFF2-40B4-BE49-F238E27FC236}">
                <a16:creationId xmlns:a16="http://schemas.microsoft.com/office/drawing/2014/main" id="{84C01FE8-1EC7-3D2A-F8B9-DDB7944CD2A6}"/>
              </a:ext>
            </a:extLst>
          </p:cNvPr>
          <p:cNvSpPr/>
          <p:nvPr/>
        </p:nvSpPr>
        <p:spPr>
          <a:xfrm>
            <a:off x="1683662" y="5209858"/>
            <a:ext cx="2532618" cy="79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 xml:space="preserve">Pending :</a:t>
            </a:r>
            <a:endParaRPr lang="en-US" sz="25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A37EC879-6DB1-58EA-C7A1-C2846F2A6DFC}"/>
              </a:ext>
            </a:extLst>
          </p:cNvPr>
          <p:cNvSpPr/>
          <p:nvPr/>
        </p:nvSpPr>
        <p:spPr>
          <a:xfrm>
            <a:off x="4324031" y="5043368"/>
            <a:ext cx="9696769" cy="79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 xml:space="preserve">Persistence to PostgreSQL — the schema is modelled, but handoffs currently live in browser storage.</a:t>
            </a:r>
            <a:endParaRPr lang="en-US" sz="2000" dirty="0"/>
          </a:p>
        </p:txBody>
      </p:sp>
      <p:pic>
        <p:nvPicPr>
          <p:cNvPr id="22" name="Image 3" descr="preencoded.png">
            <a:extLst>
              <a:ext uri="{FF2B5EF4-FFF2-40B4-BE49-F238E27FC236}">
                <a16:creationId xmlns:a16="http://schemas.microsoft.com/office/drawing/2014/main" id="{6DD37C18-6E00-FC60-D346-A765E812C4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88" y="6524566"/>
            <a:ext cx="602933" cy="753666"/>
          </a:xfrm>
          <a:prstGeom prst="rect">
            <a:avLst/>
          </a:prstGeom>
        </p:spPr>
      </p:pic>
      <p:sp>
        <p:nvSpPr>
          <p:cNvPr id="23" name="Text 7">
            <a:extLst>
              <a:ext uri="{FF2B5EF4-FFF2-40B4-BE49-F238E27FC236}">
                <a16:creationId xmlns:a16="http://schemas.microsoft.com/office/drawing/2014/main" id="{35D97BE9-7D76-673E-C05F-8A94EBF3700A}"/>
              </a:ext>
            </a:extLst>
          </p:cNvPr>
          <p:cNvSpPr/>
          <p:nvPr/>
        </p:nvSpPr>
        <p:spPr>
          <a:xfrm>
            <a:off x="1683662" y="6466325"/>
            <a:ext cx="2155508" cy="79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 xml:space="preserve">Remaining :</a:t>
            </a:r>
            <a:endParaRPr lang="en-US" sz="25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8CF6E79-D5E0-EDEC-1D47-A383D7645673}"/>
              </a:ext>
            </a:extLst>
          </p:cNvPr>
          <p:cNvSpPr/>
          <p:nvPr/>
        </p:nvSpPr>
        <p:spPr>
          <a:xfrm>
            <a:off x="4324032" y="6466325"/>
            <a:ext cx="9390620" cy="877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 xml:space="preserve">SBAR auto-summarisation, deterioration risk flagging, and authentication with role-based access.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04935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F7D2C-7165-A293-BEF5-A43AF4933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8B9C43D-A422-B66F-3C3B-F8C2A5070D58}"/>
              </a:ext>
            </a:extLst>
          </p:cNvPr>
          <p:cNvSpPr/>
          <p:nvPr/>
        </p:nvSpPr>
        <p:spPr>
          <a:xfrm>
            <a:off x="793790" y="886182"/>
            <a:ext cx="6379488" cy="797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250"/>
              </a:lnSpc>
              <a:buNone/>
            </a:pPr>
            <a:r>
              <a:rPr lang="en-US" sz="5000" b="1" u="sng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 xml:space="preserve">Contributions</a:t>
            </a:r>
            <a:endParaRPr lang="en-US" sz="5000" u="sng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688A6457-F480-6F17-5664-B514382D0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42768"/>
            <a:ext cx="602933" cy="753666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2B802EC0-C7F4-7E8F-9614-7AD7ED8262C9}"/>
              </a:ext>
            </a:extLst>
          </p:cNvPr>
          <p:cNvSpPr/>
          <p:nvPr/>
        </p:nvSpPr>
        <p:spPr>
          <a:xfrm>
            <a:off x="1683782" y="2142768"/>
            <a:ext cx="3739118" cy="119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 xml:space="preserve">Shivansh :</a:t>
            </a:r>
            <a:endParaRPr lang="en-US" sz="25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8C73134-7544-8B59-8226-5F1E95C5EFC4}"/>
              </a:ext>
            </a:extLst>
          </p:cNvPr>
          <p:cNvSpPr/>
          <p:nvPr/>
        </p:nvSpPr>
        <p:spPr>
          <a:xfrm>
            <a:off x="4324031" y="2159040"/>
            <a:ext cx="9390620" cy="797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 xml:space="preserve">Proposal finalisation, ER diagram, the /transcribe endpoint, repository restructuring, GitHub Pages deployment and local HTTPS.</a:t>
            </a:r>
            <a:endParaRPr lang="en-US" sz="2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492A11-EAF6-1892-EFE8-E528CEF4807E}"/>
              </a:ext>
            </a:extLst>
          </p:cNvPr>
          <p:cNvSpPr/>
          <p:nvPr/>
        </p:nvSpPr>
        <p:spPr>
          <a:xfrm>
            <a:off x="12544425" y="7610475"/>
            <a:ext cx="2085975" cy="514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highlight>
                <a:srgbClr val="C0C0C0"/>
              </a:highlight>
            </a:endParaRPr>
          </a:p>
        </p:txBody>
      </p:sp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806CD355-B8F2-89DD-2596-C6EC2BE147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89" y="3605748"/>
            <a:ext cx="602933" cy="753666"/>
          </a:xfrm>
          <a:prstGeom prst="rect">
            <a:avLst/>
          </a:prstGeom>
        </p:spPr>
      </p:pic>
      <p:sp>
        <p:nvSpPr>
          <p:cNvPr id="17" name="Text 3">
            <a:extLst>
              <a:ext uri="{FF2B5EF4-FFF2-40B4-BE49-F238E27FC236}">
                <a16:creationId xmlns:a16="http://schemas.microsoft.com/office/drawing/2014/main" id="{A76C668B-CAF4-C617-E1DE-130A53314614}"/>
              </a:ext>
            </a:extLst>
          </p:cNvPr>
          <p:cNvSpPr/>
          <p:nvPr/>
        </p:nvSpPr>
        <p:spPr>
          <a:xfrm>
            <a:off x="1683782" y="3797856"/>
            <a:ext cx="2155388" cy="79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 xml:space="preserve">Ishaan :</a:t>
            </a:r>
            <a:endParaRPr lang="en-US" sz="25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C8C9F3D1-495D-AD7D-D60A-61D48D7F187F}"/>
              </a:ext>
            </a:extLst>
          </p:cNvPr>
          <p:cNvSpPr/>
          <p:nvPr/>
        </p:nvSpPr>
        <p:spPr>
          <a:xfrm>
            <a:off x="4324031" y="3620095"/>
            <a:ext cx="9512579" cy="79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 xml:space="preserve">Initial proposal content, Level 0 and Level 1 DFDs, the project README, FastAPI setup with model integration, end-to-end testing.</a:t>
            </a:r>
            <a:endParaRPr lang="en-US" sz="2000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0ED3D4CD-B495-6C4E-D40D-B80F44E73E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88" y="5065157"/>
            <a:ext cx="602933" cy="753666"/>
          </a:xfrm>
          <a:prstGeom prst="rect">
            <a:avLst/>
          </a:prstGeom>
        </p:spPr>
      </p:pic>
      <p:sp>
        <p:nvSpPr>
          <p:cNvPr id="20" name="Text 5">
            <a:extLst>
              <a:ext uri="{FF2B5EF4-FFF2-40B4-BE49-F238E27FC236}">
                <a16:creationId xmlns:a16="http://schemas.microsoft.com/office/drawing/2014/main" id="{84C01FE8-1EC7-3D2A-F8B9-DDB7944CD2A6}"/>
              </a:ext>
            </a:extLst>
          </p:cNvPr>
          <p:cNvSpPr/>
          <p:nvPr/>
        </p:nvSpPr>
        <p:spPr>
          <a:xfrm>
            <a:off x="1683662" y="5209858"/>
            <a:ext cx="2532618" cy="79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 xml:space="preserve">Pushp :</a:t>
            </a:r>
            <a:endParaRPr lang="en-US" sz="25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A37EC879-6DB1-58EA-C7A1-C2846F2A6DFC}"/>
              </a:ext>
            </a:extLst>
          </p:cNvPr>
          <p:cNvSpPr/>
          <p:nvPr/>
        </p:nvSpPr>
        <p:spPr>
          <a:xfrm>
            <a:off x="4324031" y="5043368"/>
            <a:ext cx="9696769" cy="79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 xml:space="preserve">UML and activity diagrams, and the speech-to-text frontend — microphone capture, live states and transcript display.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04935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F7D2C-7165-A293-BEF5-A43AF4933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8B9C43D-A422-B66F-3C3B-F8C2A5070D58}"/>
              </a:ext>
            </a:extLst>
          </p:cNvPr>
          <p:cNvSpPr/>
          <p:nvPr/>
        </p:nvSpPr>
        <p:spPr>
          <a:xfrm>
            <a:off x="793790" y="886182"/>
            <a:ext cx="6379488" cy="797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250"/>
              </a:lnSpc>
              <a:buNone/>
            </a:pPr>
            <a:r>
              <a:rPr lang="en-US" sz="5000" b="1" u="sng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 xml:space="preserve">Next Steps</a:t>
            </a:r>
            <a:endParaRPr lang="en-US" sz="5000" u="sng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688A6457-F480-6F17-5664-B514382D0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42768"/>
            <a:ext cx="602933" cy="753666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2B802EC0-C7F4-7E8F-9614-7AD7ED8262C9}"/>
              </a:ext>
            </a:extLst>
          </p:cNvPr>
          <p:cNvSpPr/>
          <p:nvPr/>
        </p:nvSpPr>
        <p:spPr>
          <a:xfrm>
            <a:off x="1683782" y="2142768"/>
            <a:ext cx="3739118" cy="119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 xml:space="preserve">Persistence :</a:t>
            </a:r>
            <a:endParaRPr lang="en-US" sz="25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8C73134-7544-8B59-8226-5F1E95C5EFC4}"/>
              </a:ext>
            </a:extLst>
          </p:cNvPr>
          <p:cNvSpPr/>
          <p:nvPr/>
        </p:nvSpPr>
        <p:spPr>
          <a:xfrm>
            <a:off x="4324031" y="2159040"/>
            <a:ext cx="9390620" cy="797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 xml:space="preserve">Wire the modelled seven-entity schema to PostgreSQL so handoffs survive beyond the browser session.</a:t>
            </a:r>
            <a:endParaRPr lang="en-US" sz="2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492A11-EAF6-1892-EFE8-E528CEF4807E}"/>
              </a:ext>
            </a:extLst>
          </p:cNvPr>
          <p:cNvSpPr/>
          <p:nvPr/>
        </p:nvSpPr>
        <p:spPr>
          <a:xfrm>
            <a:off x="12544425" y="7610475"/>
            <a:ext cx="2085975" cy="514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highlight>
                <a:srgbClr val="C0C0C0"/>
              </a:highlight>
            </a:endParaRPr>
          </a:p>
        </p:txBody>
      </p:sp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806CD355-B8F2-89DD-2596-C6EC2BE147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89" y="3605748"/>
            <a:ext cx="602933" cy="753666"/>
          </a:xfrm>
          <a:prstGeom prst="rect">
            <a:avLst/>
          </a:prstGeom>
        </p:spPr>
      </p:pic>
      <p:sp>
        <p:nvSpPr>
          <p:cNvPr id="17" name="Text 3">
            <a:extLst>
              <a:ext uri="{FF2B5EF4-FFF2-40B4-BE49-F238E27FC236}">
                <a16:creationId xmlns:a16="http://schemas.microsoft.com/office/drawing/2014/main" id="{A76C668B-CAF4-C617-E1DE-130A53314614}"/>
              </a:ext>
            </a:extLst>
          </p:cNvPr>
          <p:cNvSpPr/>
          <p:nvPr/>
        </p:nvSpPr>
        <p:spPr>
          <a:xfrm>
            <a:off x="1683782" y="3797856"/>
            <a:ext cx="2155388" cy="79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 xml:space="preserve">SBAR :</a:t>
            </a:r>
            <a:endParaRPr lang="en-US" sz="25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C8C9F3D1-495D-AD7D-D60A-61D48D7F187F}"/>
              </a:ext>
            </a:extLst>
          </p:cNvPr>
          <p:cNvSpPr/>
          <p:nvPr/>
        </p:nvSpPr>
        <p:spPr>
          <a:xfrm>
            <a:off x="4324031" y="3620095"/>
            <a:ext cx="9512579" cy="79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 xml:space="preserve">Structure each transcript automatically into Situation, Background, Assessment and Recommendation.</a:t>
            </a:r>
            <a:endParaRPr lang="en-US" sz="2000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0ED3D4CD-B495-6C4E-D40D-B80F44E73E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88" y="5065157"/>
            <a:ext cx="602933" cy="753666"/>
          </a:xfrm>
          <a:prstGeom prst="rect">
            <a:avLst/>
          </a:prstGeom>
        </p:spPr>
      </p:pic>
      <p:sp>
        <p:nvSpPr>
          <p:cNvPr id="20" name="Text 5">
            <a:extLst>
              <a:ext uri="{FF2B5EF4-FFF2-40B4-BE49-F238E27FC236}">
                <a16:creationId xmlns:a16="http://schemas.microsoft.com/office/drawing/2014/main" id="{84C01FE8-1EC7-3D2A-F8B9-DDB7944CD2A6}"/>
              </a:ext>
            </a:extLst>
          </p:cNvPr>
          <p:cNvSpPr/>
          <p:nvPr/>
        </p:nvSpPr>
        <p:spPr>
          <a:xfrm>
            <a:off x="1683662" y="5209858"/>
            <a:ext cx="2532618" cy="79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 xml:space="preserve">Risk Model :</a:t>
            </a:r>
            <a:endParaRPr lang="en-US" sz="25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A37EC879-6DB1-58EA-C7A1-C2846F2A6DFC}"/>
              </a:ext>
            </a:extLst>
          </p:cNvPr>
          <p:cNvSpPr/>
          <p:nvPr/>
        </p:nvSpPr>
        <p:spPr>
          <a:xfrm>
            <a:off x="4324031" y="5043368"/>
            <a:ext cx="9696769" cy="79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 xml:space="preserve">Surface deteriorating patients to the incoming nurse from the vitals captured in each handoff.</a:t>
            </a:r>
            <a:endParaRPr lang="en-US" sz="2000" dirty="0"/>
          </a:p>
        </p:txBody>
      </p:sp>
      <p:pic>
        <p:nvPicPr>
          <p:cNvPr id="22" name="Image 3" descr="preencoded.png">
            <a:extLst>
              <a:ext uri="{FF2B5EF4-FFF2-40B4-BE49-F238E27FC236}">
                <a16:creationId xmlns:a16="http://schemas.microsoft.com/office/drawing/2014/main" id="{6DD37C18-6E00-FC60-D346-A765E812C4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88" y="6524566"/>
            <a:ext cx="602933" cy="753666"/>
          </a:xfrm>
          <a:prstGeom prst="rect">
            <a:avLst/>
          </a:prstGeom>
        </p:spPr>
      </p:pic>
      <p:sp>
        <p:nvSpPr>
          <p:cNvPr id="23" name="Text 7">
            <a:extLst>
              <a:ext uri="{FF2B5EF4-FFF2-40B4-BE49-F238E27FC236}">
                <a16:creationId xmlns:a16="http://schemas.microsoft.com/office/drawing/2014/main" id="{35D97BE9-7D76-673E-C05F-8A94EBF3700A}"/>
              </a:ext>
            </a:extLst>
          </p:cNvPr>
          <p:cNvSpPr/>
          <p:nvPr/>
        </p:nvSpPr>
        <p:spPr>
          <a:xfrm>
            <a:off x="1683662" y="6466325"/>
            <a:ext cx="2155508" cy="79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 xml:space="preserve">Evaluation :</a:t>
            </a:r>
            <a:endParaRPr lang="en-US" sz="25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8CF6E79-D5E0-EDEC-1D47-A383D7645673}"/>
              </a:ext>
            </a:extLst>
          </p:cNvPr>
          <p:cNvSpPr/>
          <p:nvPr/>
        </p:nvSpPr>
        <p:spPr>
          <a:xfrm>
            <a:off x="4324032" y="6466325"/>
            <a:ext cx="9390620" cy="877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 xml:space="preserve">Benchmark word error rate on annotated clinical speech, and add authentication with role-based access.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04935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97173"/>
            <a:ext cx="5316260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 xml:space="preserve">Architecture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6280190" y="2100858"/>
            <a:ext cx="7556421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 xml:space="preserve">NurseSync AI separates capture, recognition and persistence across four layers — three implemented, one modelled and scheduled for the next phase.</a:t>
            </a:r>
            <a:endParaRPr lang="en-US" sz="16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0190" y="3173135"/>
            <a:ext cx="531614" cy="5316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11114" y="3173135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 xml:space="preserve">Presentation Layer</a:t>
            </a:r>
            <a:endParaRPr lang="en-US" sz="2050" dirty="0"/>
          </a:p>
        </p:txBody>
      </p:sp>
      <p:sp>
        <p:nvSpPr>
          <p:cNvPr id="7" name="Text 3"/>
          <p:cNvSpPr/>
          <p:nvPr/>
        </p:nvSpPr>
        <p:spPr>
          <a:xfrm>
            <a:off x="7011114" y="3601045"/>
            <a:ext cx="6825496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 xml:space="preserve">Capture, language selector, live states, editable transcript.</a:t>
            </a:r>
            <a:endParaRPr lang="en-US" sz="16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0190" y="4217670"/>
            <a:ext cx="531614" cy="53161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011114" y="4217670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 xml:space="preserve">API Layer</a:t>
            </a:r>
            <a:endParaRPr lang="en-US" sz="2050" dirty="0"/>
          </a:p>
        </p:txBody>
      </p:sp>
      <p:sp>
        <p:nvSpPr>
          <p:cNvPr id="10" name="Text 5"/>
          <p:cNvSpPr/>
          <p:nvPr/>
        </p:nvSpPr>
        <p:spPr>
          <a:xfrm>
            <a:off x="7011114" y="4645581"/>
            <a:ext cx="6825496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 xml:space="preserve">Multipart upload, optional language parameter, structured JSON.</a:t>
            </a:r>
            <a:endParaRPr lang="en-US" sz="16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0190" y="5262205"/>
            <a:ext cx="531614" cy="53161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011114" y="5262205"/>
            <a:ext cx="3874889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 xml:space="preserve">Recognition Engine</a:t>
            </a:r>
            <a:endParaRPr lang="en-US" sz="2050" dirty="0"/>
          </a:p>
        </p:txBody>
      </p:sp>
      <p:sp>
        <p:nvSpPr>
          <p:cNvPr id="13" name="Text 7"/>
          <p:cNvSpPr/>
          <p:nvPr/>
        </p:nvSpPr>
        <p:spPr>
          <a:xfrm>
            <a:off x="7011114" y="5690116"/>
            <a:ext cx="6825496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 xml:space="preserve">faster-whisper on CPU. Model cached in memory, not per request.</a:t>
            </a:r>
            <a:endParaRPr lang="en-US" sz="16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80190" y="6306741"/>
            <a:ext cx="531614" cy="53161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011114" y="6306741"/>
            <a:ext cx="360676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 xml:space="preserve">Data Layer  (modelled)</a:t>
            </a:r>
            <a:endParaRPr lang="en-US" sz="2050" dirty="0"/>
          </a:p>
        </p:txBody>
      </p:sp>
      <p:sp>
        <p:nvSpPr>
          <p:cNvPr id="16" name="Text 9"/>
          <p:cNvSpPr/>
          <p:nvPr/>
        </p:nvSpPr>
        <p:spPr>
          <a:xfrm>
            <a:off x="7011114" y="6734651"/>
            <a:ext cx="6825496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 xml:space="preserve">Seven entities in the ER diagram. PostgreSQL is the next step.</a:t>
            </a:r>
            <a:endParaRPr lang="en-US" sz="16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5768F1-F4E6-98D2-981C-D94B175D4AC9}"/>
              </a:ext>
            </a:extLst>
          </p:cNvPr>
          <p:cNvSpPr/>
          <p:nvPr/>
        </p:nvSpPr>
        <p:spPr>
          <a:xfrm>
            <a:off x="12544425" y="7600950"/>
            <a:ext cx="2085975" cy="514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highlight>
                <a:srgbClr val="C0C0C0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883</TotalTime>
  <Words>343</Words>
  <Application>Microsoft Macintosh PowerPoint</Application>
  <PresentationFormat>Custom</PresentationFormat>
  <Paragraphs>40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Open Sans Light</vt:lpstr>
      <vt:lpstr>Arial</vt:lpstr>
      <vt:lpstr>Unbounded 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Shivansh Sharma</cp:lastModifiedBy>
  <cp:revision>5</cp:revision>
  <dcterms:created xsi:type="dcterms:W3CDTF">2026-02-22T05:38:25Z</dcterms:created>
  <dcterms:modified xsi:type="dcterms:W3CDTF">2026-08-10T15:46:54Z</dcterms:modified>
</cp:coreProperties>
</file>